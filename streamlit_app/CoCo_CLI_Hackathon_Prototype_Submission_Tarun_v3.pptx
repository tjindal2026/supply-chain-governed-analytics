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3" r:id="rId8"/>
    <p:sldId id="262" r:id="rId9"/>
    <p:sldId id="264" r:id="rId10"/>
    <p:sldId id="261" r:id="rId11"/>
  </p:sldIdLst>
  <p:sldSz cx="9144000" cy="5143500"/>
  <p:notesSz cx="6858000" cy="9144000"/>
  <p:embeddedFontLst>
    <p:embeddedFont>
      <p:font typeface="Manrope SemiBold"/>
      <p:regular r:id="rId15"/>
      <p:bold r:id="rId16"/>
    </p:embeddedFont>
    <p:embeddedFont>
      <p:font typeface="Manrope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app.snowflake.com/streamlit/xgqisoq/bc75017/#/apps/SUPPLY_CHAIN.CORE.SUPPLY_CHAIN_CHAT" TargetMode="External"/><Relationship Id="rId5" Type="http://schemas.openxmlformats.org/officeDocument/2006/relationships/hyperlink" Target="https://github.com/tjindal2026/supply-chain-governed-analytics" TargetMode="Externa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841248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 panose="020B0604020202020204"/>
              <a:buNone/>
            </a:pPr>
            <a:r>
              <a:rPr lang="en-GB" sz="134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345" b="1" i="0" u="none" strike="noStrike" cap="none">
                <a:solidFill>
                  <a:srgbClr val="11567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Tarun</a:t>
            </a:r>
            <a:endParaRPr sz="1345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84124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 panose="020B0604020202020204"/>
              <a:buNone/>
            </a:pPr>
            <a:r>
              <a:rPr lang="en-GB" sz="134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GB" sz="1345" b="1" i="0" u="none" strike="noStrike" cap="none">
                <a:solidFill>
                  <a:srgbClr val="11567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Supply Chain Ontology and Governed Conversational Analytics</a:t>
            </a:r>
            <a:endParaRPr sz="1345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841248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 panose="020B0604020202020204"/>
              <a:buNone/>
            </a:pPr>
            <a:r>
              <a:rPr lang="en-GB" sz="134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lang="en-GB" sz="1345" b="1" i="0" u="none" strike="noStrike" cap="none">
                <a:solidFill>
                  <a:srgbClr val="11567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Tarun</a:t>
            </a:r>
            <a:r>
              <a:rPr lang="en-IN" altLang="en-GB" sz="1345" b="1" i="0" u="none" strike="noStrike" cap="none">
                <a:solidFill>
                  <a:srgbClr val="11567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Jindal</a:t>
            </a:r>
            <a:endParaRPr lang="en-IN" altLang="en-GB" sz="1345" b="1" i="0" u="none" strike="noStrike" cap="none">
              <a:solidFill>
                <a:srgbClr val="11567F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84124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 panose="020B0604020202020204"/>
              <a:buNone/>
            </a:pPr>
            <a:r>
              <a:rPr lang="en-GB" sz="134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</a:t>
            </a:r>
            <a:r>
              <a:rPr lang="en-GB" sz="1345" b="1" i="0" u="none" strike="noStrike" cap="none">
                <a:solidFill>
                  <a:srgbClr val="11567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1 (solo participant)</a:t>
            </a:r>
            <a:endParaRPr sz="1345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Slide title"/>
          <p:cNvSpPr txBox="1"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Manrope"/>
              </a:rPr>
              <a:t>1. Problem Brief</a:t>
            </a:r>
            <a:endParaRPr sz="2000" b="1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71" name="card-Business problem"/>
          <p:cNvSpPr/>
          <p:nvPr/>
        </p:nvSpPr>
        <p:spPr>
          <a:xfrm>
            <a:off x="365760" y="128016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con-bg"/>
          <p:cNvSpPr/>
          <p:nvPr/>
        </p:nvSpPr>
        <p:spPr>
          <a:xfrm>
            <a:off x="530352" y="1435607"/>
            <a:ext cx="347472" cy="347472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icon-FaExclamationTriangle" descr="FaExclamation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9" y="1529425"/>
            <a:ext cx="159837" cy="159837"/>
          </a:xfrm>
          <a:prstGeom prst="rect">
            <a:avLst/>
          </a:prstGeom>
        </p:spPr>
      </p:pic>
      <p:sp>
        <p:nvSpPr>
          <p:cNvPr id="74" name="card-head"/>
          <p:cNvSpPr txBox="1"/>
          <p:nvPr/>
        </p:nvSpPr>
        <p:spPr>
          <a:xfrm>
            <a:off x="987552" y="1463039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11567F"/>
                </a:solidFill>
                <a:latin typeface="Manrope"/>
              </a:rPr>
              <a:t>Business problem</a:t>
            </a:r>
            <a:endParaRPr sz="12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75" name="card-body"/>
          <p:cNvSpPr txBox="1"/>
          <p:nvPr/>
        </p:nvSpPr>
        <p:spPr>
          <a:xfrm>
            <a:off x="548640" y="1883664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02729"/>
                </a:solidFill>
                <a:latin typeface="Manrope"/>
              </a:rPr>
              <a:t>Supply chain data is scattered across ERP, logistics, supplier and IoT systems with inconsistent definitions.</a:t>
            </a:r>
            <a:endParaRPr sz="1050" b="0" i="0">
              <a:solidFill>
                <a:srgbClr val="202729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02729"/>
                </a:solidFill>
                <a:latin typeface="Manrope"/>
              </a:rPr>
              <a:t>Each team calculates on-time delivery or fill rate its own way, so the same question gets different answers and decisions stall.</a:t>
            </a:r>
            <a:endParaRPr sz="10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76" name="card-Target users and personas"/>
          <p:cNvSpPr/>
          <p:nvPr/>
        </p:nvSpPr>
        <p:spPr>
          <a:xfrm>
            <a:off x="4663440" y="128016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con-bg"/>
          <p:cNvSpPr/>
          <p:nvPr/>
        </p:nvSpPr>
        <p:spPr>
          <a:xfrm>
            <a:off x="4828031" y="1435607"/>
            <a:ext cx="347472" cy="347472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icon-FaUsers" descr="Fa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849" y="1529425"/>
            <a:ext cx="159837" cy="159837"/>
          </a:xfrm>
          <a:prstGeom prst="rect">
            <a:avLst/>
          </a:prstGeom>
        </p:spPr>
      </p:pic>
      <p:sp>
        <p:nvSpPr>
          <p:cNvPr id="79" name="card-head"/>
          <p:cNvSpPr txBox="1"/>
          <p:nvPr/>
        </p:nvSpPr>
        <p:spPr>
          <a:xfrm>
            <a:off x="5285231" y="1463039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11567F"/>
                </a:solidFill>
                <a:latin typeface="Manrope"/>
              </a:rPr>
              <a:t>Target users and personas</a:t>
            </a:r>
            <a:endParaRPr sz="12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80" name="card-body"/>
          <p:cNvSpPr txBox="1"/>
          <p:nvPr/>
        </p:nvSpPr>
        <p:spPr>
          <a:xfrm>
            <a:off x="4846320" y="1883664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02729"/>
                </a:solidFill>
                <a:latin typeface="Manrope"/>
              </a:rPr>
              <a:t>Planning: </a:t>
            </a:r>
            <a:r>
              <a:rPr sz="1050" b="0" i="0">
                <a:solidFill>
                  <a:srgbClr val="202729"/>
                </a:solidFill>
                <a:latin typeface="Manrope"/>
              </a:rPr>
              <a:t>inventory health, days of inventory</a:t>
            </a:r>
            <a:endParaRPr sz="1050" b="0" i="0">
              <a:solidFill>
                <a:srgbClr val="202729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02729"/>
                </a:solidFill>
                <a:latin typeface="Manrope"/>
              </a:rPr>
              <a:t>Procurement: </a:t>
            </a:r>
            <a:r>
              <a:rPr sz="1050" b="0" i="0">
                <a:solidFill>
                  <a:srgbClr val="202729"/>
                </a:solidFill>
                <a:latin typeface="Manrope"/>
              </a:rPr>
              <a:t>supplier on-time delivery, fill rate</a:t>
            </a:r>
            <a:endParaRPr sz="1050" b="0" i="0">
              <a:solidFill>
                <a:srgbClr val="202729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02729"/>
                </a:solidFill>
                <a:latin typeface="Manrope"/>
              </a:rPr>
              <a:t>Logistics: </a:t>
            </a:r>
            <a:r>
              <a:rPr sz="1050" b="0" i="0">
                <a:solidFill>
                  <a:srgbClr val="202729"/>
                </a:solidFill>
                <a:latin typeface="Manrope"/>
              </a:rPr>
              <a:t>carrier performance, landed cost</a:t>
            </a:r>
            <a:endParaRPr sz="1050" b="0" i="0">
              <a:solidFill>
                <a:srgbClr val="202729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02729"/>
                </a:solidFill>
                <a:latin typeface="Manrope"/>
              </a:rPr>
              <a:t>Leadership: </a:t>
            </a:r>
            <a:r>
              <a:rPr sz="1050" b="0" i="0">
                <a:solidFill>
                  <a:srgbClr val="202729"/>
                </a:solidFill>
                <a:latin typeface="Manrope"/>
              </a:rPr>
              <a:t>one trusted view of the numbers</a:t>
            </a:r>
            <a:endParaRPr sz="10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1" name="card-Pain point and improvement"/>
          <p:cNvSpPr/>
          <p:nvPr/>
        </p:nvSpPr>
        <p:spPr>
          <a:xfrm>
            <a:off x="365760" y="310896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con-bg"/>
          <p:cNvSpPr/>
          <p:nvPr/>
        </p:nvSpPr>
        <p:spPr>
          <a:xfrm>
            <a:off x="530352" y="3264408"/>
            <a:ext cx="347472" cy="347472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icon-FaExchangeAlt" descr="FaExchange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69" y="3358225"/>
            <a:ext cx="159837" cy="159837"/>
          </a:xfrm>
          <a:prstGeom prst="rect">
            <a:avLst/>
          </a:prstGeom>
        </p:spPr>
      </p:pic>
      <p:sp>
        <p:nvSpPr>
          <p:cNvPr id="84" name="card-head"/>
          <p:cNvSpPr txBox="1"/>
          <p:nvPr/>
        </p:nvSpPr>
        <p:spPr>
          <a:xfrm>
            <a:off x="987552" y="329184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11567F"/>
                </a:solidFill>
                <a:latin typeface="Manrope"/>
              </a:rPr>
              <a:t>Pain point and improvement</a:t>
            </a:r>
            <a:endParaRPr sz="12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85" name="card-body"/>
          <p:cNvSpPr txBox="1"/>
          <p:nvPr/>
        </p:nvSpPr>
        <p:spPr>
          <a:xfrm>
            <a:off x="548640" y="3712463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02729"/>
                </a:solidFill>
                <a:latin typeface="Manrope"/>
              </a:rPr>
              <a:t>Today: </a:t>
            </a:r>
            <a:r>
              <a:rPr sz="1050" b="0" i="0">
                <a:solidFill>
                  <a:srgbClr val="202729"/>
                </a:solidFill>
                <a:latin typeface="Manrope"/>
              </a:rPr>
              <a:t>analyst tickets, spreadsheets and metric disputes before anyone can act.</a:t>
            </a:r>
            <a:endParaRPr sz="1050" b="0" i="0">
              <a:solidFill>
                <a:srgbClr val="202729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02729"/>
                </a:solidFill>
                <a:latin typeface="Manrope"/>
              </a:rPr>
              <a:t>With this solution: </a:t>
            </a:r>
            <a:r>
              <a:rPr sz="1050" b="0" i="0">
                <a:solidFill>
                  <a:srgbClr val="202729"/>
                </a:solidFill>
                <a:latin typeface="Manrope"/>
              </a:rPr>
              <a:t>one governed semantic layer. Ask in plain English, get one consistent answer and the definition behind it.</a:t>
            </a:r>
            <a:endParaRPr sz="10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6" name="card-Industry and domain context"/>
          <p:cNvSpPr/>
          <p:nvPr/>
        </p:nvSpPr>
        <p:spPr>
          <a:xfrm>
            <a:off x="4663440" y="310896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icon-bg"/>
          <p:cNvSpPr/>
          <p:nvPr/>
        </p:nvSpPr>
        <p:spPr>
          <a:xfrm>
            <a:off x="4828031" y="3264408"/>
            <a:ext cx="347472" cy="347472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icon-FaIndustry" descr="FaIndus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849" y="3358225"/>
            <a:ext cx="159837" cy="159837"/>
          </a:xfrm>
          <a:prstGeom prst="rect">
            <a:avLst/>
          </a:prstGeom>
        </p:spPr>
      </p:pic>
      <p:sp>
        <p:nvSpPr>
          <p:cNvPr id="89" name="card-head"/>
          <p:cNvSpPr txBox="1"/>
          <p:nvPr/>
        </p:nvSpPr>
        <p:spPr>
          <a:xfrm>
            <a:off x="5285231" y="329184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11567F"/>
                </a:solidFill>
                <a:latin typeface="Manrope"/>
              </a:rPr>
              <a:t>Industry and domain context</a:t>
            </a:r>
            <a:endParaRPr sz="12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90" name="card-body"/>
          <p:cNvSpPr txBox="1"/>
          <p:nvPr/>
        </p:nvSpPr>
        <p:spPr>
          <a:xfrm>
            <a:off x="4846320" y="3712463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02729"/>
                </a:solidFill>
                <a:latin typeface="Manrope"/>
              </a:rPr>
              <a:t>Manufacturing and distribution supply chains: order-to-delivery and procure-to-pay.</a:t>
            </a:r>
            <a:endParaRPr sz="1050" b="0" i="0">
              <a:solidFill>
                <a:srgbClr val="202729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02729"/>
                </a:solidFill>
                <a:latin typeface="Manrope"/>
              </a:rPr>
              <a:t>Modeled on ERP-style data: suppliers, parts, plants, orders, shipments and inventory.</a:t>
            </a:r>
            <a:endParaRPr sz="1050" b="0" i="0">
              <a:solidFill>
                <a:srgbClr val="202729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Slide title"/>
          <p:cNvSpPr txBox="1"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Manrope"/>
              </a:rPr>
              <a:t>2. Architecture Diagram</a:t>
            </a:r>
            <a:endParaRPr sz="2000" b="1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76" name="arch-box-Data sources"/>
          <p:cNvSpPr/>
          <p:nvPr/>
        </p:nvSpPr>
        <p:spPr>
          <a:xfrm>
            <a:off x="365760" y="1280160"/>
            <a:ext cx="1499616" cy="233172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con-bg"/>
          <p:cNvSpPr/>
          <p:nvPr/>
        </p:nvSpPr>
        <p:spPr>
          <a:xfrm>
            <a:off x="475488" y="138988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icon-FaDatabase" descr="Fa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67" y="1478767"/>
            <a:ext cx="151424" cy="151424"/>
          </a:xfrm>
          <a:prstGeom prst="rect">
            <a:avLst/>
          </a:prstGeom>
        </p:spPr>
      </p:pic>
      <p:sp>
        <p:nvSpPr>
          <p:cNvPr id="79" name="arch-head"/>
          <p:cNvSpPr txBox="1"/>
          <p:nvPr/>
        </p:nvSpPr>
        <p:spPr>
          <a:xfrm>
            <a:off x="475488" y="179222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Data sources</a:t>
            </a:r>
            <a:endParaRPr sz="11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80" name="arch-body"/>
          <p:cNvSpPr txBox="1"/>
          <p:nvPr/>
        </p:nvSpPr>
        <p:spPr>
          <a:xfrm>
            <a:off x="475488" y="2121408"/>
            <a:ext cx="12984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Structured: synthetic ERP-style data, ~17.6k rows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Unstructured: none in MVP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1" name="status-chip"/>
          <p:cNvSpPr/>
          <p:nvPr/>
        </p:nvSpPr>
        <p:spPr>
          <a:xfrm>
            <a:off x="475488" y="3300984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tatus-text"/>
          <p:cNvSpPr txBox="1"/>
          <p:nvPr/>
        </p:nvSpPr>
        <p:spPr>
          <a:xfrm>
            <a:off x="475488" y="33009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8F5F"/>
                </a:solidFill>
                <a:latin typeface="Manrope"/>
              </a:rPr>
              <a:t>Done</a:t>
            </a:r>
            <a:endParaRPr sz="900" b="1" i="0">
              <a:solidFill>
                <a:srgbClr val="1F8F5F"/>
              </a:solidFill>
              <a:latin typeface="Manrope"/>
            </a:endParaRPr>
          </a:p>
        </p:txBody>
      </p:sp>
      <p:sp>
        <p:nvSpPr>
          <p:cNvPr id="83" name="flow-arrow"/>
          <p:cNvSpPr/>
          <p:nvPr/>
        </p:nvSpPr>
        <p:spPr>
          <a:xfrm>
            <a:off x="1892807" y="2331720"/>
            <a:ext cx="173736" cy="219456"/>
          </a:xfrm>
          <a:prstGeom prst="rightArrow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rch-box-Ontology layer"/>
          <p:cNvSpPr/>
          <p:nvPr/>
        </p:nvSpPr>
        <p:spPr>
          <a:xfrm>
            <a:off x="2093976" y="1280160"/>
            <a:ext cx="1499616" cy="233172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icon-bg"/>
          <p:cNvSpPr/>
          <p:nvPr/>
        </p:nvSpPr>
        <p:spPr>
          <a:xfrm>
            <a:off x="2203704" y="138988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icon-FaProjectDiagram" descr="FaProject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583" y="1478767"/>
            <a:ext cx="151424" cy="151424"/>
          </a:xfrm>
          <a:prstGeom prst="rect">
            <a:avLst/>
          </a:prstGeom>
        </p:spPr>
      </p:pic>
      <p:sp>
        <p:nvSpPr>
          <p:cNvPr id="87" name="arch-head"/>
          <p:cNvSpPr txBox="1"/>
          <p:nvPr/>
        </p:nvSpPr>
        <p:spPr>
          <a:xfrm>
            <a:off x="2203704" y="179222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Ontology layer</a:t>
            </a:r>
            <a:endParaRPr sz="11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88" name="arch-body"/>
          <p:cNvSpPr txBox="1"/>
          <p:nvPr/>
        </p:nvSpPr>
        <p:spPr>
          <a:xfrm>
            <a:off x="2203704" y="2121408"/>
            <a:ext cx="12984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11 keyed tables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Plant &gt; Region &gt; Country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Part &gt; Category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Column-level comments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9" name="status-chip"/>
          <p:cNvSpPr/>
          <p:nvPr/>
        </p:nvSpPr>
        <p:spPr>
          <a:xfrm>
            <a:off x="2203704" y="3300984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tatus-text"/>
          <p:cNvSpPr txBox="1"/>
          <p:nvPr/>
        </p:nvSpPr>
        <p:spPr>
          <a:xfrm>
            <a:off x="2203704" y="33009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8F5F"/>
                </a:solidFill>
                <a:latin typeface="Manrope"/>
              </a:rPr>
              <a:t>Done</a:t>
            </a:r>
            <a:endParaRPr sz="900" b="1" i="0">
              <a:solidFill>
                <a:srgbClr val="1F8F5F"/>
              </a:solidFill>
              <a:latin typeface="Manrope"/>
            </a:endParaRPr>
          </a:p>
        </p:txBody>
      </p:sp>
      <p:sp>
        <p:nvSpPr>
          <p:cNvPr id="91" name="flow-arrow"/>
          <p:cNvSpPr/>
          <p:nvPr/>
        </p:nvSpPr>
        <p:spPr>
          <a:xfrm>
            <a:off x="3621023" y="2331720"/>
            <a:ext cx="173736" cy="219456"/>
          </a:xfrm>
          <a:prstGeom prst="rightArrow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rch-box-Semantic view"/>
          <p:cNvSpPr/>
          <p:nvPr/>
        </p:nvSpPr>
        <p:spPr>
          <a:xfrm>
            <a:off x="3822191" y="1280160"/>
            <a:ext cx="1499616" cy="233172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icon-bg"/>
          <p:cNvSpPr/>
          <p:nvPr/>
        </p:nvSpPr>
        <p:spPr>
          <a:xfrm>
            <a:off x="3931920" y="138988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icon-FaLayerGroup" descr="FaLayer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799" y="1478767"/>
            <a:ext cx="151424" cy="151424"/>
          </a:xfrm>
          <a:prstGeom prst="rect">
            <a:avLst/>
          </a:prstGeom>
        </p:spPr>
      </p:pic>
      <p:sp>
        <p:nvSpPr>
          <p:cNvPr id="95" name="arch-head"/>
          <p:cNvSpPr txBox="1"/>
          <p:nvPr/>
        </p:nvSpPr>
        <p:spPr>
          <a:xfrm>
            <a:off x="3931920" y="179222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Semantic view</a:t>
            </a:r>
            <a:endParaRPr sz="11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96" name="arch-body"/>
          <p:cNvSpPr txBox="1"/>
          <p:nvPr/>
        </p:nvSpPr>
        <p:spPr>
          <a:xfrm>
            <a:off x="3931920" y="2121408"/>
            <a:ext cx="12984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13 relationships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Canonical metrics and synonyms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10 verified queries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97" name="status-chip"/>
          <p:cNvSpPr/>
          <p:nvPr/>
        </p:nvSpPr>
        <p:spPr>
          <a:xfrm>
            <a:off x="3931920" y="3300984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tatus-text"/>
          <p:cNvSpPr txBox="1"/>
          <p:nvPr/>
        </p:nvSpPr>
        <p:spPr>
          <a:xfrm>
            <a:off x="3931920" y="33009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8F5F"/>
                </a:solidFill>
                <a:latin typeface="Manrope"/>
              </a:rPr>
              <a:t>Done</a:t>
            </a:r>
            <a:endParaRPr sz="900" b="1" i="0">
              <a:solidFill>
                <a:srgbClr val="1F8F5F"/>
              </a:solidFill>
              <a:latin typeface="Manrope"/>
            </a:endParaRPr>
          </a:p>
        </p:txBody>
      </p:sp>
      <p:sp>
        <p:nvSpPr>
          <p:cNvPr id="99" name="flow-arrow"/>
          <p:cNvSpPr/>
          <p:nvPr/>
        </p:nvSpPr>
        <p:spPr>
          <a:xfrm>
            <a:off x="5349240" y="2331720"/>
            <a:ext cx="173736" cy="219456"/>
          </a:xfrm>
          <a:prstGeom prst="rightArrow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rch-box-Cortex Agent"/>
          <p:cNvSpPr/>
          <p:nvPr/>
        </p:nvSpPr>
        <p:spPr>
          <a:xfrm>
            <a:off x="5550408" y="1280160"/>
            <a:ext cx="1499616" cy="233172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icon-bg"/>
          <p:cNvSpPr/>
          <p:nvPr/>
        </p:nvSpPr>
        <p:spPr>
          <a:xfrm>
            <a:off x="5660136" y="138988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icon-FaRobot" descr="Fa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015" y="1478767"/>
            <a:ext cx="151424" cy="151424"/>
          </a:xfrm>
          <a:prstGeom prst="rect">
            <a:avLst/>
          </a:prstGeom>
        </p:spPr>
      </p:pic>
      <p:sp>
        <p:nvSpPr>
          <p:cNvPr id="103" name="arch-head"/>
          <p:cNvSpPr txBox="1"/>
          <p:nvPr/>
        </p:nvSpPr>
        <p:spPr>
          <a:xfrm>
            <a:off x="5660136" y="179222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Cortex Agent</a:t>
            </a:r>
            <a:endParaRPr sz="11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104" name="arch-body"/>
          <p:cNvSpPr txBox="1"/>
          <p:nvPr/>
        </p:nvSpPr>
        <p:spPr>
          <a:xfrm>
            <a:off x="5660136" y="2121408"/>
            <a:ext cx="12984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Named agent on Cortex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Analyst tool on the semantic view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States the definition used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105" name="status-chip"/>
          <p:cNvSpPr/>
          <p:nvPr/>
        </p:nvSpPr>
        <p:spPr>
          <a:xfrm>
            <a:off x="5660136" y="3300984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tatus-text"/>
          <p:cNvSpPr txBox="1"/>
          <p:nvPr/>
        </p:nvSpPr>
        <p:spPr>
          <a:xfrm>
            <a:off x="5660136" y="33009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8F5F"/>
                </a:solidFill>
                <a:latin typeface="Manrope"/>
              </a:rPr>
              <a:t>Done</a:t>
            </a:r>
            <a:endParaRPr sz="900" b="1" i="0">
              <a:solidFill>
                <a:srgbClr val="1F8F5F"/>
              </a:solidFill>
              <a:latin typeface="Manrope"/>
            </a:endParaRPr>
          </a:p>
        </p:txBody>
      </p:sp>
      <p:sp>
        <p:nvSpPr>
          <p:cNvPr id="107" name="flow-arrow"/>
          <p:cNvSpPr/>
          <p:nvPr/>
        </p:nvSpPr>
        <p:spPr>
          <a:xfrm>
            <a:off x="7077456" y="2331720"/>
            <a:ext cx="173736" cy="219456"/>
          </a:xfrm>
          <a:prstGeom prst="rightArrow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arch-box-Streamlit app"/>
          <p:cNvSpPr/>
          <p:nvPr/>
        </p:nvSpPr>
        <p:spPr>
          <a:xfrm>
            <a:off x="7278624" y="1280160"/>
            <a:ext cx="1499616" cy="233172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icon-bg"/>
          <p:cNvSpPr/>
          <p:nvPr/>
        </p:nvSpPr>
        <p:spPr>
          <a:xfrm>
            <a:off x="7388352" y="138988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icon-FaComments" descr="Fa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7231" y="1478767"/>
            <a:ext cx="151424" cy="151424"/>
          </a:xfrm>
          <a:prstGeom prst="rect">
            <a:avLst/>
          </a:prstGeom>
        </p:spPr>
      </p:pic>
      <p:sp>
        <p:nvSpPr>
          <p:cNvPr id="111" name="arch-head"/>
          <p:cNvSpPr txBox="1"/>
          <p:nvPr/>
        </p:nvSpPr>
        <p:spPr>
          <a:xfrm>
            <a:off x="7388352" y="179222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Streamlit app</a:t>
            </a:r>
            <a:endParaRPr sz="11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112" name="arch-body"/>
          <p:cNvSpPr txBox="1"/>
          <p:nvPr/>
        </p:nvSpPr>
        <p:spPr>
          <a:xfrm>
            <a:off x="7388352" y="2121408"/>
            <a:ext cx="12984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Deployed in Snowflake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Persona selector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Shows answer and SQL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113" name="status-chip"/>
          <p:cNvSpPr/>
          <p:nvPr/>
        </p:nvSpPr>
        <p:spPr>
          <a:xfrm>
            <a:off x="7388352" y="3300984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tatus-text"/>
          <p:cNvSpPr txBox="1"/>
          <p:nvPr/>
        </p:nvSpPr>
        <p:spPr>
          <a:xfrm>
            <a:off x="7388352" y="33009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8F5F"/>
                </a:solidFill>
                <a:latin typeface="Manrope"/>
              </a:rPr>
              <a:t>Done</a:t>
            </a:r>
            <a:endParaRPr sz="900" b="1" i="0">
              <a:solidFill>
                <a:srgbClr val="1F8F5F"/>
              </a:solidFill>
              <a:latin typeface="Manrope"/>
            </a:endParaRPr>
          </a:p>
        </p:txBody>
      </p:sp>
      <p:sp>
        <p:nvSpPr>
          <p:cNvPr id="115" name="card-coco"/>
          <p:cNvSpPr/>
          <p:nvPr/>
        </p:nvSpPr>
        <p:spPr>
          <a:xfrm>
            <a:off x="365760" y="3794760"/>
            <a:ext cx="4937760" cy="10058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card-head"/>
          <p:cNvSpPr txBox="1"/>
          <p:nvPr/>
        </p:nvSpPr>
        <p:spPr>
          <a:xfrm>
            <a:off x="530352" y="3877056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1567F"/>
                </a:solidFill>
                <a:latin typeface="Manrope"/>
              </a:rPr>
              <a:t>Built with CoCo CLI</a:t>
            </a:r>
            <a:endParaRPr sz="11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117" name="card-body"/>
          <p:cNvSpPr txBox="1"/>
          <p:nvPr/>
        </p:nvSpPr>
        <p:spPr>
          <a:xfrm>
            <a:off x="530352" y="4151376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CoCo CLI generated the ontology DDL, seed data, semantic view, agent and Streamlit app.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All of it runs inside Snowflake. Supplier documents via Cortex Search are planned.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118" name="card-gov"/>
          <p:cNvSpPr/>
          <p:nvPr/>
        </p:nvSpPr>
        <p:spPr>
          <a:xfrm>
            <a:off x="5486400" y="3794760"/>
            <a:ext cx="3291840" cy="10058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card-head"/>
          <p:cNvSpPr txBox="1"/>
          <p:nvPr/>
        </p:nvSpPr>
        <p:spPr>
          <a:xfrm>
            <a:off x="5650992" y="3877056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1567F"/>
                </a:solidFill>
                <a:latin typeface="Manrope"/>
              </a:rPr>
              <a:t>Modular and governed by design</a:t>
            </a:r>
            <a:endParaRPr sz="11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120" name="card-body"/>
          <p:cNvSpPr txBox="1"/>
          <p:nvPr/>
        </p:nvSpPr>
        <p:spPr>
          <a:xfrm>
            <a:off x="5650992" y="4151376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Each layer plugs into the next through the semantic view.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25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One definition per metric; app access is allow-listed.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Slide title"/>
          <p:cNvSpPr txBox="1"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Manrope"/>
              </a:rPr>
              <a:t>3. Impact Statement</a:t>
            </a:r>
            <a:endParaRPr sz="2000" b="1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2" name="stat-card"/>
          <p:cNvSpPr/>
          <p:nvPr/>
        </p:nvSpPr>
        <p:spPr>
          <a:xfrm>
            <a:off x="365760" y="128016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tat-number"/>
          <p:cNvSpPr txBox="1"/>
          <p:nvPr/>
        </p:nvSpPr>
        <p:spPr>
          <a:xfrm>
            <a:off x="502920" y="1325880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anrope"/>
              </a:rPr>
              <a:t>4</a:t>
            </a:r>
            <a:endParaRPr sz="260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4" name="stat-label"/>
          <p:cNvSpPr txBox="1"/>
          <p:nvPr/>
        </p:nvSpPr>
        <p:spPr>
          <a:xfrm>
            <a:off x="1143000" y="1325880"/>
            <a:ext cx="100583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anrope"/>
              </a:rPr>
              <a:t>canonical metrics defined once</a:t>
            </a:r>
            <a:endParaRPr sz="1000" b="0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5" name="stat-card"/>
          <p:cNvSpPr/>
          <p:nvPr/>
        </p:nvSpPr>
        <p:spPr>
          <a:xfrm>
            <a:off x="2545049" y="128016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tat-number"/>
          <p:cNvSpPr txBox="1"/>
          <p:nvPr/>
        </p:nvSpPr>
        <p:spPr>
          <a:xfrm>
            <a:off x="2682209" y="1325880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anrope"/>
              </a:rPr>
              <a:t>3</a:t>
            </a:r>
            <a:endParaRPr sz="260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7" name="stat-label"/>
          <p:cNvSpPr txBox="1"/>
          <p:nvPr/>
        </p:nvSpPr>
        <p:spPr>
          <a:xfrm>
            <a:off x="3322289" y="1325880"/>
            <a:ext cx="100583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anrope"/>
              </a:rPr>
              <a:t>personas, one consistent answer</a:t>
            </a:r>
            <a:endParaRPr sz="1000" b="0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8" name="stat-card"/>
          <p:cNvSpPr/>
          <p:nvPr/>
        </p:nvSpPr>
        <p:spPr>
          <a:xfrm>
            <a:off x="4724339" y="128016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tat-number"/>
          <p:cNvSpPr txBox="1"/>
          <p:nvPr/>
        </p:nvSpPr>
        <p:spPr>
          <a:xfrm>
            <a:off x="4861499" y="1325880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anrope"/>
              </a:rPr>
              <a:t>10</a:t>
            </a:r>
            <a:endParaRPr sz="260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0" name="stat-label"/>
          <p:cNvSpPr txBox="1"/>
          <p:nvPr/>
        </p:nvSpPr>
        <p:spPr>
          <a:xfrm>
            <a:off x="5501579" y="1325880"/>
            <a:ext cx="100583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anrope"/>
              </a:rPr>
              <a:t>verified queries as a test set</a:t>
            </a:r>
            <a:endParaRPr sz="1000" b="0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1" name="stat-card"/>
          <p:cNvSpPr/>
          <p:nvPr/>
        </p:nvSpPr>
        <p:spPr>
          <a:xfrm>
            <a:off x="6903628" y="128016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tat-number"/>
          <p:cNvSpPr txBox="1"/>
          <p:nvPr/>
        </p:nvSpPr>
        <p:spPr>
          <a:xfrm>
            <a:off x="7040788" y="1325880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anrope"/>
              </a:rPr>
              <a:t>11</a:t>
            </a:r>
            <a:endParaRPr sz="260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3" name="stat-label"/>
          <p:cNvSpPr txBox="1"/>
          <p:nvPr/>
        </p:nvSpPr>
        <p:spPr>
          <a:xfrm>
            <a:off x="7680868" y="1325880"/>
            <a:ext cx="100583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anrope"/>
              </a:rPr>
              <a:t>governed, documented tables</a:t>
            </a:r>
            <a:endParaRPr sz="1000" b="0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4" name="col-card"/>
          <p:cNvSpPr/>
          <p:nvPr/>
        </p:nvSpPr>
        <p:spPr>
          <a:xfrm>
            <a:off x="365760" y="2240280"/>
            <a:ext cx="2715768" cy="256032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icon-bg"/>
          <p:cNvSpPr/>
          <p:nvPr/>
        </p:nvSpPr>
        <p:spPr>
          <a:xfrm>
            <a:off x="502920" y="235000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icon-FaBullseye" descr="FaBulls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99" y="2438887"/>
            <a:ext cx="151424" cy="151424"/>
          </a:xfrm>
          <a:prstGeom prst="rect">
            <a:avLst/>
          </a:prstGeom>
        </p:spPr>
      </p:pic>
      <p:sp>
        <p:nvSpPr>
          <p:cNvPr id="97" name="col-head"/>
          <p:cNvSpPr txBox="1"/>
          <p:nvPr/>
        </p:nvSpPr>
        <p:spPr>
          <a:xfrm>
            <a:off x="932688" y="2350008"/>
            <a:ext cx="20756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1567F"/>
                </a:solidFill>
                <a:latin typeface="Manrope"/>
              </a:rPr>
              <a:t>Measurable outcomes</a:t>
            </a:r>
            <a:endParaRPr sz="12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98" name="col-body"/>
          <p:cNvSpPr txBox="1"/>
          <p:nvPr/>
        </p:nvSpPr>
        <p:spPr>
          <a:xfrm>
            <a:off x="512064" y="2798064"/>
            <a:ext cx="2441448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4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Consistency: the same metric returns identical results for Planning, Procurement and Logistics, shown in the persona demo.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4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Speed: a cross-domain question is answered in seconds with no analyst ticket (target; timing recorded in demo).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4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Trust: every answer names the definition it used.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99" name="col-card"/>
          <p:cNvSpPr/>
          <p:nvPr/>
        </p:nvSpPr>
        <p:spPr>
          <a:xfrm>
            <a:off x="3218688" y="2240280"/>
            <a:ext cx="2715768" cy="256032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icon-bg"/>
          <p:cNvSpPr/>
          <p:nvPr/>
        </p:nvSpPr>
        <p:spPr>
          <a:xfrm>
            <a:off x="3355848" y="235000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icon-FaExpandArrowsAlt" descr="FaExpandArrows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727" y="2438887"/>
            <a:ext cx="151424" cy="151424"/>
          </a:xfrm>
          <a:prstGeom prst="rect">
            <a:avLst/>
          </a:prstGeom>
        </p:spPr>
      </p:pic>
      <p:sp>
        <p:nvSpPr>
          <p:cNvPr id="102" name="col-head"/>
          <p:cNvSpPr txBox="1"/>
          <p:nvPr/>
        </p:nvSpPr>
        <p:spPr>
          <a:xfrm>
            <a:off x="3785615" y="2350008"/>
            <a:ext cx="20756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1567F"/>
                </a:solidFill>
                <a:latin typeface="Manrope"/>
              </a:rPr>
              <a:t>Scalability potential</a:t>
            </a:r>
            <a:endParaRPr sz="12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103" name="col-body"/>
          <p:cNvSpPr txBox="1"/>
          <p:nvPr/>
        </p:nvSpPr>
        <p:spPr>
          <a:xfrm>
            <a:off x="3364992" y="2798064"/>
            <a:ext cx="2441448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4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New sources map onto the ontology tables; a new metric is added once.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4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Snowflake elastic compute scales with data and users.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4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Role-based access, masking and row policies layer on without redesign.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104" name="col-card"/>
          <p:cNvSpPr/>
          <p:nvPr/>
        </p:nvSpPr>
        <p:spPr>
          <a:xfrm>
            <a:off x="6071616" y="2240280"/>
            <a:ext cx="2715768" cy="256032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icon-bg"/>
          <p:cNvSpPr/>
          <p:nvPr/>
        </p:nvSpPr>
        <p:spPr>
          <a:xfrm>
            <a:off x="6208776" y="235000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icon-FaRocket" descr="Fa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655" y="2438887"/>
            <a:ext cx="151424" cy="151424"/>
          </a:xfrm>
          <a:prstGeom prst="rect">
            <a:avLst/>
          </a:prstGeom>
        </p:spPr>
      </p:pic>
      <p:sp>
        <p:nvSpPr>
          <p:cNvPr id="107" name="col-head"/>
          <p:cNvSpPr txBox="1"/>
          <p:nvPr/>
        </p:nvSpPr>
        <p:spPr>
          <a:xfrm>
            <a:off x="6638544" y="2350008"/>
            <a:ext cx="20756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1567F"/>
                </a:solidFill>
                <a:latin typeface="Manrope"/>
              </a:rPr>
              <a:t>Beyond the demo</a:t>
            </a:r>
            <a:endParaRPr sz="12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108" name="col-body"/>
          <p:cNvSpPr txBox="1"/>
          <p:nvPr/>
        </p:nvSpPr>
        <p:spPr>
          <a:xfrm>
            <a:off x="6217920" y="2798064"/>
            <a:ext cx="2441448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4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Swap synthetic data for real ERP, WMS and TMS extracts.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4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Add IoT telemetry such as temperature (not in this MVP) to shipments.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4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Add supplier contracts and emails with Cortex Search; embed the agent in Teams or Slack.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Slide title"/>
          <p:cNvSpPr txBox="1"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Manrope"/>
              </a:rPr>
              <a:t>Additional Slide: Ontology and Canonical Metrics</a:t>
            </a:r>
            <a:endParaRPr sz="2000" b="1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1" name="entity-Supplier"/>
          <p:cNvSpPr/>
          <p:nvPr/>
        </p:nvSpPr>
        <p:spPr>
          <a:xfrm>
            <a:off x="365760" y="1298448"/>
            <a:ext cx="1152144" cy="457200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ntity-label"/>
          <p:cNvSpPr txBox="1"/>
          <p:nvPr/>
        </p:nvSpPr>
        <p:spPr>
          <a:xfrm>
            <a:off x="365760" y="1298448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nrope"/>
              </a:rPr>
              <a:t>Supplier</a:t>
            </a:r>
            <a:endParaRPr sz="115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3" name="entity-arrow"/>
          <p:cNvSpPr/>
          <p:nvPr/>
        </p:nvSpPr>
        <p:spPr>
          <a:xfrm>
            <a:off x="1572768" y="1435608"/>
            <a:ext cx="182880" cy="182880"/>
          </a:xfrm>
          <a:prstGeom prst="rightArrow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ntity-Part"/>
          <p:cNvSpPr/>
          <p:nvPr/>
        </p:nvSpPr>
        <p:spPr>
          <a:xfrm>
            <a:off x="1817827" y="1298448"/>
            <a:ext cx="1152144" cy="457200"/>
          </a:xfrm>
          <a:prstGeom prst="roundRect">
            <a:avLst>
              <a:gd name="adj" fmla="val 6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ntity-label"/>
          <p:cNvSpPr txBox="1"/>
          <p:nvPr/>
        </p:nvSpPr>
        <p:spPr>
          <a:xfrm>
            <a:off x="1817827" y="1298448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nrope"/>
              </a:rPr>
              <a:t>Part</a:t>
            </a:r>
            <a:endParaRPr sz="115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6" name="entity-arrow"/>
          <p:cNvSpPr/>
          <p:nvPr/>
        </p:nvSpPr>
        <p:spPr>
          <a:xfrm>
            <a:off x="3024835" y="1435608"/>
            <a:ext cx="182880" cy="182880"/>
          </a:xfrm>
          <a:prstGeom prst="rightArrow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ntity-Plant"/>
          <p:cNvSpPr/>
          <p:nvPr/>
        </p:nvSpPr>
        <p:spPr>
          <a:xfrm>
            <a:off x="3269894" y="1298448"/>
            <a:ext cx="1152144" cy="457200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ntity-label"/>
          <p:cNvSpPr txBox="1"/>
          <p:nvPr/>
        </p:nvSpPr>
        <p:spPr>
          <a:xfrm>
            <a:off x="3269894" y="1298448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nrope"/>
              </a:rPr>
              <a:t>Plant</a:t>
            </a:r>
            <a:endParaRPr sz="115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89" name="entity-arrow"/>
          <p:cNvSpPr/>
          <p:nvPr/>
        </p:nvSpPr>
        <p:spPr>
          <a:xfrm>
            <a:off x="4476902" y="1435608"/>
            <a:ext cx="182880" cy="182880"/>
          </a:xfrm>
          <a:prstGeom prst="rightArrow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ntity-Shipment"/>
          <p:cNvSpPr/>
          <p:nvPr/>
        </p:nvSpPr>
        <p:spPr>
          <a:xfrm>
            <a:off x="4721961" y="1298448"/>
            <a:ext cx="1152144" cy="457200"/>
          </a:xfrm>
          <a:prstGeom prst="roundRect">
            <a:avLst>
              <a:gd name="adj" fmla="val 6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ntity-label"/>
          <p:cNvSpPr txBox="1"/>
          <p:nvPr/>
        </p:nvSpPr>
        <p:spPr>
          <a:xfrm>
            <a:off x="4721961" y="1298448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nrope"/>
              </a:rPr>
              <a:t>Shipment</a:t>
            </a:r>
            <a:endParaRPr sz="115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2" name="entity-arrow"/>
          <p:cNvSpPr/>
          <p:nvPr/>
        </p:nvSpPr>
        <p:spPr>
          <a:xfrm>
            <a:off x="5928969" y="1435608"/>
            <a:ext cx="182880" cy="182880"/>
          </a:xfrm>
          <a:prstGeom prst="rightArrow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ntity-Order"/>
          <p:cNvSpPr/>
          <p:nvPr/>
        </p:nvSpPr>
        <p:spPr>
          <a:xfrm>
            <a:off x="6174028" y="1298448"/>
            <a:ext cx="1152144" cy="457200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ntity-label"/>
          <p:cNvSpPr txBox="1"/>
          <p:nvPr/>
        </p:nvSpPr>
        <p:spPr>
          <a:xfrm>
            <a:off x="6174028" y="1298448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nrope"/>
              </a:rPr>
              <a:t>Order</a:t>
            </a:r>
            <a:endParaRPr sz="115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5" name="entity-arrow"/>
          <p:cNvSpPr/>
          <p:nvPr/>
        </p:nvSpPr>
        <p:spPr>
          <a:xfrm>
            <a:off x="7381036" y="1435608"/>
            <a:ext cx="182880" cy="182880"/>
          </a:xfrm>
          <a:prstGeom prst="rightArrow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ntity-Customer"/>
          <p:cNvSpPr/>
          <p:nvPr/>
        </p:nvSpPr>
        <p:spPr>
          <a:xfrm>
            <a:off x="7626096" y="1298448"/>
            <a:ext cx="1152144" cy="457200"/>
          </a:xfrm>
          <a:prstGeom prst="roundRect">
            <a:avLst>
              <a:gd name="adj" fmla="val 6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ntity-label"/>
          <p:cNvSpPr txBox="1"/>
          <p:nvPr/>
        </p:nvSpPr>
        <p:spPr>
          <a:xfrm>
            <a:off x="7626096" y="1298448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nrope"/>
              </a:rPr>
              <a:t>Customer</a:t>
            </a:r>
            <a:endParaRPr sz="115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98" name="hierarchy-note"/>
          <p:cNvSpPr txBox="1"/>
          <p:nvPr/>
        </p:nvSpPr>
        <p:spPr>
          <a:xfrm>
            <a:off x="365760" y="1874519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1567F"/>
                </a:solidFill>
                <a:latin typeface="Manrope"/>
              </a:rPr>
              <a:t>Hierarchies: </a:t>
            </a:r>
            <a:r>
              <a:rPr sz="1000" b="0" i="0">
                <a:solidFill>
                  <a:srgbClr val="202729"/>
                </a:solidFill>
                <a:latin typeface="Manrope"/>
              </a:rPr>
              <a:t>Plant &gt; Region &gt; Country   |   Part &gt; Category   |   Customer &gt; Country   |   13 modeled relationships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99" name="metric-pill"/>
          <p:cNvSpPr/>
          <p:nvPr/>
        </p:nvSpPr>
        <p:spPr>
          <a:xfrm>
            <a:off x="365760" y="2240280"/>
            <a:ext cx="1920240" cy="585216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metric-name"/>
          <p:cNvSpPr txBox="1"/>
          <p:nvPr/>
        </p:nvSpPr>
        <p:spPr>
          <a:xfrm>
            <a:off x="475488" y="2240280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</a:rPr>
              <a:t>On-Time Delivery %</a:t>
            </a:r>
            <a:endParaRPr sz="110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01" name="metric-def-bg"/>
          <p:cNvSpPr/>
          <p:nvPr/>
        </p:nvSpPr>
        <p:spPr>
          <a:xfrm>
            <a:off x="2377440" y="2240280"/>
            <a:ext cx="6400800" cy="585216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metric-def"/>
          <p:cNvSpPr txBox="1"/>
          <p:nvPr/>
        </p:nvSpPr>
        <p:spPr>
          <a:xfrm>
            <a:off x="2542032" y="2240280"/>
            <a:ext cx="6126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02729"/>
                </a:solidFill>
                <a:latin typeface="Manrope"/>
              </a:rPr>
              <a:t>Shipments delivered on or before CONFIRMED_DATE divided by delivered shipments. The baseline is the confirmed date, not the requested date.</a:t>
            </a:r>
            <a:endParaRPr sz="10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103" name="metric-pill"/>
          <p:cNvSpPr/>
          <p:nvPr/>
        </p:nvSpPr>
        <p:spPr>
          <a:xfrm>
            <a:off x="365760" y="2916936"/>
            <a:ext cx="1920240" cy="585216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metric-name"/>
          <p:cNvSpPr txBox="1"/>
          <p:nvPr/>
        </p:nvSpPr>
        <p:spPr>
          <a:xfrm>
            <a:off x="475488" y="2916936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</a:rPr>
              <a:t>Fill Rate %</a:t>
            </a:r>
            <a:endParaRPr sz="110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05" name="metric-def-bg"/>
          <p:cNvSpPr/>
          <p:nvPr/>
        </p:nvSpPr>
        <p:spPr>
          <a:xfrm>
            <a:off x="2377440" y="2916936"/>
            <a:ext cx="6400800" cy="585216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metric-def"/>
          <p:cNvSpPr txBox="1"/>
          <p:nvPr/>
        </p:nvSpPr>
        <p:spPr>
          <a:xfrm>
            <a:off x="2542032" y="2916936"/>
            <a:ext cx="6126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02729"/>
                </a:solidFill>
                <a:latin typeface="Manrope"/>
              </a:rPr>
              <a:t>Sum of shipped quantity divided by sum of ordered quantity across order lines.</a:t>
            </a:r>
            <a:endParaRPr sz="10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107" name="metric-pill"/>
          <p:cNvSpPr/>
          <p:nvPr/>
        </p:nvSpPr>
        <p:spPr>
          <a:xfrm>
            <a:off x="365760" y="3593592"/>
            <a:ext cx="1920240" cy="585216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metric-name"/>
          <p:cNvSpPr txBox="1"/>
          <p:nvPr/>
        </p:nvSpPr>
        <p:spPr>
          <a:xfrm>
            <a:off x="475488" y="3593592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</a:rPr>
              <a:t>Landed Cost</a:t>
            </a:r>
            <a:endParaRPr sz="110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09" name="metric-def-bg"/>
          <p:cNvSpPr/>
          <p:nvPr/>
        </p:nvSpPr>
        <p:spPr>
          <a:xfrm>
            <a:off x="2377440" y="3593592"/>
            <a:ext cx="6400800" cy="585216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metric-def"/>
          <p:cNvSpPr txBox="1"/>
          <p:nvPr/>
        </p:nvSpPr>
        <p:spPr>
          <a:xfrm>
            <a:off x="2542032" y="3593592"/>
            <a:ext cx="6126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02729"/>
                </a:solidFill>
                <a:latin typeface="Manrope"/>
              </a:rPr>
              <a:t>Freight + duty + handling per shipment, also available per unit shipped.</a:t>
            </a:r>
            <a:endParaRPr sz="10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111" name="metric-pill"/>
          <p:cNvSpPr/>
          <p:nvPr/>
        </p:nvSpPr>
        <p:spPr>
          <a:xfrm>
            <a:off x="365760" y="4270248"/>
            <a:ext cx="1920240" cy="585216"/>
          </a:xfrm>
          <a:prstGeom prst="roundRect">
            <a:avLst>
              <a:gd name="adj" fmla="val 6000"/>
            </a:avLst>
          </a:prstGeom>
          <a:solidFill>
            <a:srgbClr val="11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metric-name"/>
          <p:cNvSpPr txBox="1"/>
          <p:nvPr/>
        </p:nvSpPr>
        <p:spPr>
          <a:xfrm>
            <a:off x="475488" y="4270248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</a:rPr>
              <a:t>Days of Inventory</a:t>
            </a:r>
            <a:endParaRPr sz="1100" b="1" i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13" name="metric-def-bg"/>
          <p:cNvSpPr/>
          <p:nvPr/>
        </p:nvSpPr>
        <p:spPr>
          <a:xfrm>
            <a:off x="2377440" y="4270248"/>
            <a:ext cx="6400800" cy="585216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metric-def"/>
          <p:cNvSpPr txBox="1"/>
          <p:nvPr/>
        </p:nvSpPr>
        <p:spPr>
          <a:xfrm>
            <a:off x="2542032" y="4270248"/>
            <a:ext cx="6126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02729"/>
                </a:solidFill>
                <a:latin typeface="Manrope"/>
              </a:rPr>
              <a:t>Average on-hand quantity divided by average consumption (shipped quantity is the demand proxy in this MVP).</a:t>
            </a:r>
            <a:endParaRPr sz="1050" b="0" i="0">
              <a:solidFill>
                <a:srgbClr val="202729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Slide title"/>
          <p:cNvSpPr txBox="1"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Manrope"/>
              </a:rPr>
              <a:t>Additional Slide: Governed Conversational Layer</a:t>
            </a:r>
            <a:endParaRPr sz="2000" b="1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1" name="card-Persona-aware agent"/>
          <p:cNvSpPr/>
          <p:nvPr/>
        </p:nvSpPr>
        <p:spPr>
          <a:xfrm>
            <a:off x="365760" y="128016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con-bg"/>
          <p:cNvSpPr/>
          <p:nvPr/>
        </p:nvSpPr>
        <p:spPr>
          <a:xfrm>
            <a:off x="530352" y="1435607"/>
            <a:ext cx="347472" cy="347472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icon-FaUsers" descr="Fa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9" y="1529425"/>
            <a:ext cx="159837" cy="159837"/>
          </a:xfrm>
          <a:prstGeom prst="rect">
            <a:avLst/>
          </a:prstGeom>
        </p:spPr>
      </p:pic>
      <p:sp>
        <p:nvSpPr>
          <p:cNvPr id="84" name="card-head"/>
          <p:cNvSpPr txBox="1"/>
          <p:nvPr/>
        </p:nvSpPr>
        <p:spPr>
          <a:xfrm>
            <a:off x="987552" y="1463039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11567F"/>
                </a:solidFill>
                <a:latin typeface="Manrope"/>
              </a:rPr>
              <a:t>Persona-aware agent</a:t>
            </a:r>
            <a:endParaRPr sz="12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85" name="card-body"/>
          <p:cNvSpPr txBox="1"/>
          <p:nvPr/>
        </p:nvSpPr>
        <p:spPr>
          <a:xfrm>
            <a:off x="548640" y="1883664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Planning, Procurement and Logistics selector adds role context to each question.</a:t>
            </a:r>
            <a:endParaRPr sz="100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Every persona reads from the same semantic view, so metric definitions do not change.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6" name="card-Transparent answers"/>
          <p:cNvSpPr/>
          <p:nvPr/>
        </p:nvSpPr>
        <p:spPr>
          <a:xfrm>
            <a:off x="4663440" y="128016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icon-bg"/>
          <p:cNvSpPr/>
          <p:nvPr/>
        </p:nvSpPr>
        <p:spPr>
          <a:xfrm>
            <a:off x="4828031" y="1435607"/>
            <a:ext cx="347472" cy="347472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icon-FaLayerGroup" descr="Fa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849" y="1529425"/>
            <a:ext cx="159837" cy="159837"/>
          </a:xfrm>
          <a:prstGeom prst="rect">
            <a:avLst/>
          </a:prstGeom>
        </p:spPr>
      </p:pic>
      <p:sp>
        <p:nvSpPr>
          <p:cNvPr id="89" name="card-head"/>
          <p:cNvSpPr txBox="1"/>
          <p:nvPr/>
        </p:nvSpPr>
        <p:spPr>
          <a:xfrm>
            <a:off x="5285231" y="1463039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11567F"/>
                </a:solidFill>
                <a:latin typeface="Manrope"/>
              </a:rPr>
              <a:t>Transparent answers</a:t>
            </a:r>
            <a:endParaRPr sz="12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90" name="card-body"/>
          <p:cNvSpPr txBox="1"/>
          <p:nvPr/>
        </p:nvSpPr>
        <p:spPr>
          <a:xfrm>
            <a:off x="4846320" y="1883664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The agent must state which canonical definition it used.</a:t>
            </a:r>
            <a:endParaRPr sz="100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The generated SQL is shown in an expander.</a:t>
            </a:r>
            <a:endParaRPr sz="100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Fixed formats: dollars, one-decimal percentages, markdown tables.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91" name="card-Governance and guardrails"/>
          <p:cNvSpPr/>
          <p:nvPr/>
        </p:nvSpPr>
        <p:spPr>
          <a:xfrm>
            <a:off x="365760" y="310896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icon-bg"/>
          <p:cNvSpPr/>
          <p:nvPr/>
        </p:nvSpPr>
        <p:spPr>
          <a:xfrm>
            <a:off x="530352" y="3264408"/>
            <a:ext cx="347472" cy="347472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icon-FaDatabase" descr="Fa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69" y="3358225"/>
            <a:ext cx="159837" cy="159837"/>
          </a:xfrm>
          <a:prstGeom prst="rect">
            <a:avLst/>
          </a:prstGeom>
        </p:spPr>
      </p:pic>
      <p:sp>
        <p:nvSpPr>
          <p:cNvPr id="94" name="card-head"/>
          <p:cNvSpPr txBox="1"/>
          <p:nvPr/>
        </p:nvSpPr>
        <p:spPr>
          <a:xfrm>
            <a:off x="987552" y="329184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11567F"/>
                </a:solidFill>
                <a:latin typeface="Manrope"/>
              </a:rPr>
              <a:t>Governance and guardrails</a:t>
            </a:r>
            <a:endParaRPr sz="12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95" name="card-body"/>
          <p:cNvSpPr txBox="1"/>
          <p:nvPr/>
        </p:nvSpPr>
        <p:spPr>
          <a:xfrm>
            <a:off x="548640" y="3712463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App access is limited to an allow-list of users.</a:t>
            </a:r>
            <a:endParaRPr sz="100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Questions capped at 500 characters, 50 per session, 10 turns of history.</a:t>
            </a:r>
            <a:endParaRPr sz="100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The agent never fabricates data when a query returns nothing.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96" name="card-Ready-made questions"/>
          <p:cNvSpPr/>
          <p:nvPr/>
        </p:nvSpPr>
        <p:spPr>
          <a:xfrm>
            <a:off x="4663440" y="310896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icon-bg"/>
          <p:cNvSpPr/>
          <p:nvPr/>
        </p:nvSpPr>
        <p:spPr>
          <a:xfrm>
            <a:off x="4828031" y="3264408"/>
            <a:ext cx="347472" cy="347472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icon-FaComments" descr="Fa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849" y="3358225"/>
            <a:ext cx="159837" cy="159837"/>
          </a:xfrm>
          <a:prstGeom prst="rect">
            <a:avLst/>
          </a:prstGeom>
        </p:spPr>
      </p:pic>
      <p:sp>
        <p:nvSpPr>
          <p:cNvPr id="99" name="card-head"/>
          <p:cNvSpPr txBox="1"/>
          <p:nvPr/>
        </p:nvSpPr>
        <p:spPr>
          <a:xfrm>
            <a:off x="5285231" y="329184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11567F"/>
                </a:solidFill>
                <a:latin typeface="Manrope"/>
              </a:rPr>
              <a:t>Ready-made questions</a:t>
            </a:r>
            <a:endParaRPr sz="125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100" name="card-body"/>
          <p:cNvSpPr txBox="1"/>
          <p:nvPr/>
        </p:nvSpPr>
        <p:spPr>
          <a:xfrm>
            <a:off x="4846320" y="3712463"/>
            <a:ext cx="374903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Starter questions per persona, such as OTD by supplier, landed cost by carrier and fill rate by plant.</a:t>
            </a:r>
            <a:endParaRPr sz="100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1000" b="0" i="0">
                <a:solidFill>
                  <a:srgbClr val="202729"/>
                </a:solidFill>
                <a:latin typeface="Manrope"/>
              </a:rPr>
              <a:t>Five sample questions are also built into the agent.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Slide title"/>
          <p:cNvSpPr txBox="1"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Manrope"/>
              </a:rPr>
              <a:t>Additional Slide: Build Status, Persona Demo and Links</a:t>
            </a:r>
            <a:endParaRPr sz="2000" b="1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1" name="status-card"/>
          <p:cNvSpPr/>
          <p:nvPr/>
        </p:nvSpPr>
        <p:spPr>
          <a:xfrm>
            <a:off x="365760" y="1280160"/>
            <a:ext cx="4846320" cy="352044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tatus-dot"/>
          <p:cNvSpPr/>
          <p:nvPr/>
        </p:nvSpPr>
        <p:spPr>
          <a:xfrm>
            <a:off x="530352" y="1453896"/>
            <a:ext cx="274320" cy="274320"/>
          </a:xfrm>
          <a:prstGeom prst="ellipse">
            <a:avLst/>
          </a:prstGeom>
          <a:solidFill>
            <a:srgbClr val="1F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status-icon" descr="Fa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517904"/>
            <a:ext cx="146304" cy="146304"/>
          </a:xfrm>
          <a:prstGeom prst="rect">
            <a:avLst/>
          </a:prstGeom>
        </p:spPr>
      </p:pic>
      <p:sp>
        <p:nvSpPr>
          <p:cNvPr id="84" name="status-text"/>
          <p:cNvSpPr txBox="1"/>
          <p:nvPr/>
        </p:nvSpPr>
        <p:spPr>
          <a:xfrm>
            <a:off x="960120" y="141732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Ontology DDL</a:t>
            </a:r>
            <a:endParaRPr sz="1100" b="1" i="0">
              <a:solidFill>
                <a:srgbClr val="11567F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202729"/>
                </a:solidFill>
                <a:latin typeface="Manrope"/>
              </a:rPr>
              <a:t>11 tables, hierarchies and column comments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5" name="status-dot"/>
          <p:cNvSpPr/>
          <p:nvPr/>
        </p:nvSpPr>
        <p:spPr>
          <a:xfrm>
            <a:off x="530352" y="2011680"/>
            <a:ext cx="274320" cy="274320"/>
          </a:xfrm>
          <a:prstGeom prst="ellipse">
            <a:avLst/>
          </a:prstGeom>
          <a:solidFill>
            <a:srgbClr val="1F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status-icon" descr="Fa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075688"/>
            <a:ext cx="146304" cy="146304"/>
          </a:xfrm>
          <a:prstGeom prst="rect">
            <a:avLst/>
          </a:prstGeom>
        </p:spPr>
      </p:pic>
      <p:sp>
        <p:nvSpPr>
          <p:cNvPr id="87" name="status-text"/>
          <p:cNvSpPr txBox="1"/>
          <p:nvPr/>
        </p:nvSpPr>
        <p:spPr>
          <a:xfrm>
            <a:off x="960120" y="197510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Synthetic seed data</a:t>
            </a:r>
            <a:endParaRPr sz="1100" b="1" i="0">
              <a:solidFill>
                <a:srgbClr val="11567F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202729"/>
                </a:solidFill>
                <a:latin typeface="Manrope"/>
              </a:rPr>
              <a:t>~17.6k rows with ~20% late and ~25% partial shipments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88" name="status-dot"/>
          <p:cNvSpPr/>
          <p:nvPr/>
        </p:nvSpPr>
        <p:spPr>
          <a:xfrm>
            <a:off x="530352" y="2569464"/>
            <a:ext cx="274320" cy="274320"/>
          </a:xfrm>
          <a:prstGeom prst="ellipse">
            <a:avLst/>
          </a:prstGeom>
          <a:solidFill>
            <a:srgbClr val="1F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status-icon" descr="Fa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633472"/>
            <a:ext cx="146304" cy="146304"/>
          </a:xfrm>
          <a:prstGeom prst="rect">
            <a:avLst/>
          </a:prstGeom>
        </p:spPr>
      </p:pic>
      <p:sp>
        <p:nvSpPr>
          <p:cNvPr id="90" name="status-text"/>
          <p:cNvSpPr txBox="1"/>
          <p:nvPr/>
        </p:nvSpPr>
        <p:spPr>
          <a:xfrm>
            <a:off x="960120" y="253288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Semantic view</a:t>
            </a:r>
            <a:endParaRPr sz="1100" b="1" i="0">
              <a:solidFill>
                <a:srgbClr val="11567F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202729"/>
                </a:solidFill>
                <a:latin typeface="Manrope"/>
              </a:rPr>
              <a:t>13 relationships, synonyms, 10 verified queries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91" name="status-dot"/>
          <p:cNvSpPr/>
          <p:nvPr/>
        </p:nvSpPr>
        <p:spPr>
          <a:xfrm>
            <a:off x="530352" y="3127248"/>
            <a:ext cx="274320" cy="274320"/>
          </a:xfrm>
          <a:prstGeom prst="ellipse">
            <a:avLst/>
          </a:prstGeom>
          <a:solidFill>
            <a:srgbClr val="1F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status-icon" descr="Fa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3191256"/>
            <a:ext cx="146304" cy="146304"/>
          </a:xfrm>
          <a:prstGeom prst="rect">
            <a:avLst/>
          </a:prstGeom>
        </p:spPr>
      </p:pic>
      <p:sp>
        <p:nvSpPr>
          <p:cNvPr id="93" name="status-text"/>
          <p:cNvSpPr txBox="1"/>
          <p:nvPr/>
        </p:nvSpPr>
        <p:spPr>
          <a:xfrm>
            <a:off x="960120" y="30906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Cortex Agent</a:t>
            </a:r>
            <a:endParaRPr sz="1100" b="1" i="0">
              <a:solidFill>
                <a:srgbClr val="11567F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202729"/>
                </a:solidFill>
                <a:latin typeface="Manrope"/>
              </a:rPr>
              <a:t>SUPPLY_CHAIN_AGENT using Cortex Analyst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94" name="status-dot"/>
          <p:cNvSpPr/>
          <p:nvPr/>
        </p:nvSpPr>
        <p:spPr>
          <a:xfrm>
            <a:off x="530352" y="3685032"/>
            <a:ext cx="274320" cy="274320"/>
          </a:xfrm>
          <a:prstGeom prst="ellipse">
            <a:avLst/>
          </a:prstGeom>
          <a:solidFill>
            <a:srgbClr val="1F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status-icon" descr="Fa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3749040"/>
            <a:ext cx="146304" cy="146304"/>
          </a:xfrm>
          <a:prstGeom prst="rect">
            <a:avLst/>
          </a:prstGeom>
        </p:spPr>
      </p:pic>
      <p:sp>
        <p:nvSpPr>
          <p:cNvPr id="96" name="status-text"/>
          <p:cNvSpPr txBox="1"/>
          <p:nvPr/>
        </p:nvSpPr>
        <p:spPr>
          <a:xfrm>
            <a:off x="960120" y="364845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Streamlit chat app</a:t>
            </a:r>
            <a:endParaRPr sz="1100" b="1" i="0">
              <a:solidFill>
                <a:srgbClr val="11567F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202729"/>
                </a:solidFill>
                <a:latin typeface="Manrope"/>
              </a:rPr>
              <a:t>Deployed in Snowflake with persona selector and SQL view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97" name="status-dot"/>
          <p:cNvSpPr/>
          <p:nvPr/>
        </p:nvSpPr>
        <p:spPr>
          <a:xfrm>
            <a:off x="530352" y="4242816"/>
            <a:ext cx="274320" cy="274320"/>
          </a:xfrm>
          <a:prstGeom prst="ellipse">
            <a:avLst/>
          </a:prstGeom>
          <a:solidFill>
            <a:srgbClr val="1F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status-icon" descr="Fa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4306824"/>
            <a:ext cx="146304" cy="146304"/>
          </a:xfrm>
          <a:prstGeom prst="rect">
            <a:avLst/>
          </a:prstGeom>
        </p:spPr>
      </p:pic>
      <p:sp>
        <p:nvSpPr>
          <p:cNvPr id="99" name="status-text"/>
          <p:cNvSpPr txBox="1"/>
          <p:nvPr/>
        </p:nvSpPr>
        <p:spPr>
          <a:xfrm>
            <a:off x="960120" y="420624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1567F"/>
                </a:solidFill>
                <a:latin typeface="Manrope"/>
              </a:rPr>
              <a:t>Persona-consistency demo</a:t>
            </a:r>
            <a:endParaRPr sz="1100" b="1" i="0">
              <a:solidFill>
                <a:srgbClr val="11567F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202729"/>
                </a:solidFill>
                <a:latin typeface="Manrope"/>
              </a:rPr>
              <a:t>Same questions as three personas return identical results</a:t>
            </a:r>
            <a:endParaRPr sz="100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100" name="demo-card"/>
          <p:cNvSpPr/>
          <p:nvPr/>
        </p:nvSpPr>
        <p:spPr>
          <a:xfrm>
            <a:off x="5394960" y="12801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icon-bg"/>
          <p:cNvSpPr/>
          <p:nvPr/>
        </p:nvSpPr>
        <p:spPr>
          <a:xfrm>
            <a:off x="5532120" y="138988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icon-FaPlayCircle" descr="FaPlay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999" y="1478767"/>
            <a:ext cx="151424" cy="151424"/>
          </a:xfrm>
          <a:prstGeom prst="rect">
            <a:avLst/>
          </a:prstGeom>
        </p:spPr>
      </p:pic>
      <p:sp>
        <p:nvSpPr>
          <p:cNvPr id="103" name="card-head"/>
          <p:cNvSpPr txBox="1"/>
          <p:nvPr/>
        </p:nvSpPr>
        <p:spPr>
          <a:xfrm>
            <a:off x="5943600" y="1389888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1567F"/>
                </a:solidFill>
                <a:latin typeface="Manrope"/>
              </a:rPr>
              <a:t>Persona demo</a:t>
            </a:r>
            <a:endParaRPr sz="12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104" name="card-body"/>
          <p:cNvSpPr txBox="1"/>
          <p:nvPr/>
        </p:nvSpPr>
        <p:spPr>
          <a:xfrm>
            <a:off x="5541264" y="18288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Same questions asked as Planning, Procurement and Logistics.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Identical numbers and the same metric definition returned.</a:t>
            </a:r>
            <a:endParaRPr sz="950" b="0" i="0">
              <a:solidFill>
                <a:srgbClr val="202729"/>
              </a:solidFill>
              <a:latin typeface="Manrope"/>
            </a:endParaRPr>
          </a:p>
          <a:p>
            <a:pPr marL="149860" indent="-149860" algn="l">
              <a:lnSpc>
                <a:spcPct val="100000"/>
              </a:lnSpc>
              <a:spcAft>
                <a:spcPts val="300"/>
              </a:spcAft>
              <a:buClr>
                <a:srgbClr val="29B5E8"/>
              </a:buClr>
              <a:buFont typeface="Arial" panose="020B0604020202020204"/>
              <a:buChar char="•"/>
            </a:pPr>
            <a:r>
              <a:rPr sz="950" b="0" i="0">
                <a:solidFill>
                  <a:srgbClr val="202729"/>
                </a:solidFill>
                <a:latin typeface="Manrope"/>
              </a:rPr>
              <a:t>Results shown in the demo video.</a:t>
            </a:r>
            <a:endParaRPr sz="950" b="0" i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105" name="links-card"/>
          <p:cNvSpPr/>
          <p:nvPr/>
        </p:nvSpPr>
        <p:spPr>
          <a:xfrm>
            <a:off x="5394960" y="2834640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icon-bg"/>
          <p:cNvSpPr/>
          <p:nvPr/>
        </p:nvSpPr>
        <p:spPr>
          <a:xfrm>
            <a:off x="5532120" y="2944368"/>
            <a:ext cx="329184" cy="329184"/>
          </a:xfrm>
          <a:prstGeom prst="ellipse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icon-FaLink" descr="Fa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999" y="3033247"/>
            <a:ext cx="151424" cy="151424"/>
          </a:xfrm>
          <a:prstGeom prst="rect">
            <a:avLst/>
          </a:prstGeom>
        </p:spPr>
      </p:pic>
      <p:sp>
        <p:nvSpPr>
          <p:cNvPr id="108" name="card-head"/>
          <p:cNvSpPr txBox="1"/>
          <p:nvPr/>
        </p:nvSpPr>
        <p:spPr>
          <a:xfrm>
            <a:off x="5943600" y="2944368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1567F"/>
                </a:solidFill>
                <a:latin typeface="Manrope"/>
              </a:rPr>
              <a:t>Links</a:t>
            </a:r>
            <a:endParaRPr sz="1200" b="1" i="0">
              <a:solidFill>
                <a:srgbClr val="11567F"/>
              </a:solidFill>
              <a:latin typeface="Manrope"/>
            </a:endParaRPr>
          </a:p>
        </p:txBody>
      </p:sp>
      <p:sp>
        <p:nvSpPr>
          <p:cNvPr id="109" name="card-body"/>
          <p:cNvSpPr txBox="1"/>
          <p:nvPr/>
        </p:nvSpPr>
        <p:spPr>
          <a:xfrm>
            <a:off x="5541264" y="3401568"/>
            <a:ext cx="3154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202729"/>
                </a:solidFill>
                <a:latin typeface="Manrope"/>
              </a:rPr>
              <a:t>GitHub: </a:t>
            </a:r>
            <a:r>
              <a:rPr sz="850" b="0" i="0">
                <a:solidFill>
                  <a:srgbClr val="202729"/>
                </a:solidFill>
                <a:latin typeface="Manrope"/>
                <a:hlinkClick r:id="rId5"/>
              </a:rPr>
              <a:t>github.com/tjindal2026/supply-chain-governed-analytics</a:t>
            </a:r>
            <a:endParaRPr sz="850" b="0" i="0">
              <a:solidFill>
                <a:srgbClr val="202729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202729"/>
                </a:solidFill>
                <a:latin typeface="Manrope"/>
              </a:rPr>
              <a:t>Deployed app: </a:t>
            </a:r>
            <a:r>
              <a:rPr sz="850" b="0" i="0">
                <a:solidFill>
                  <a:srgbClr val="202729"/>
                </a:solidFill>
                <a:latin typeface="Manrope"/>
                <a:hlinkClick r:id="rId6"/>
              </a:rPr>
              <a:t>https://app.snowflake.com/streamlit/xgqisoq/bc75017/#/apps/SUPPLY_CHAIN.CORE.SUPPLY_CHAIN_CHAT</a:t>
            </a:r>
            <a:endParaRPr sz="850" b="0" i="0">
              <a:solidFill>
                <a:srgbClr val="202729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202729"/>
                </a:solidFill>
                <a:latin typeface="Manrope"/>
              </a:rPr>
              <a:t>Access: </a:t>
            </a:r>
            <a:r>
              <a:rPr sz="850" b="0" i="0">
                <a:solidFill>
                  <a:srgbClr val="202729"/>
                </a:solidFill>
                <a:latin typeface="Manrope"/>
              </a:rPr>
              <a:t>allow-listed users only</a:t>
            </a:r>
            <a:endParaRPr sz="850" b="0" i="0">
              <a:solidFill>
                <a:srgbClr val="202729"/>
              </a:solidFill>
              <a:latin typeface="Manrope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202729"/>
                </a:solidFill>
                <a:latin typeface="Manrope"/>
              </a:rPr>
              <a:t>Demo video: </a:t>
            </a:r>
            <a:r>
              <a:rPr sz="850" b="0" i="0">
                <a:solidFill>
                  <a:srgbClr val="202729"/>
                </a:solidFill>
                <a:latin typeface="Manrope"/>
              </a:rPr>
              <a:t>link to be added</a:t>
            </a:r>
            <a:endParaRPr sz="850" b="0" i="0">
              <a:solidFill>
                <a:srgbClr val="202729"/>
              </a:solidFill>
              <a:latin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5024</Words>
  <Application>WPS Presentation</Application>
  <PresentationFormat/>
  <Paragraphs>209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Manrope SemiBold</vt:lpstr>
      <vt:lpstr>Manrope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Tarun</cp:lastModifiedBy>
  <cp:revision>1</cp:revision>
  <dcterms:created xsi:type="dcterms:W3CDTF">2026-10-04T03:55:32Z</dcterms:created>
  <dcterms:modified xsi:type="dcterms:W3CDTF">2026-10-04T03:55:32Z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1B0B6B34874646ECB03F1CA15CA00AD7_12</vt:lpwstr>
  </property>
  <property fmtid="{D5CDD505-2E9C-101B-9397-08002B2CF9AE}" pid="3" name="KSOProductBuildVer">
    <vt:lpwstr>1033-12.1.0.28485</vt:lpwstr>
  </property>
</Properties>
</file>